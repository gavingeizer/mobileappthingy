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sldIdLst>
    <p:sldId id="256" r:id="rId5"/>
    <p:sldId id="257" r:id="rId6"/>
    <p:sldId id="258" r:id="rId7"/>
    <p:sldId id="270" r:id="rId8"/>
    <p:sldId id="259" r:id="rId9"/>
    <p:sldId id="260" r:id="rId10"/>
    <p:sldId id="261" r:id="rId11"/>
    <p:sldId id="262" r:id="rId12"/>
    <p:sldId id="263" r:id="rId13"/>
    <p:sldId id="264" r:id="rId14"/>
    <p:sldId id="265" r:id="rId15"/>
    <p:sldId id="266" r:id="rId16"/>
    <p:sldId id="267" r:id="rId17"/>
    <p:sldId id="275" r:id="rId18"/>
    <p:sldId id="269" r:id="rId19"/>
    <p:sldId id="268" r:id="rId20"/>
    <p:sldId id="271" r:id="rId21"/>
    <p:sldId id="272"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F9A648-E9AA-4BD7-B398-9352D050B91C}" v="92" dt="2026-04-07T14:36:05.9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p:cViewPr varScale="1">
        <p:scale>
          <a:sx n="101" d="100"/>
          <a:sy n="101" d="100"/>
        </p:scale>
        <p:origin x="12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CA" dirty="0"/>
              <a:t>Time to</a:t>
            </a:r>
            <a:r>
              <a:rPr lang="en-CA" baseline="0" dirty="0"/>
              <a:t> First Word in </a:t>
            </a:r>
            <a:r>
              <a:rPr lang="en-CA" baseline="0" dirty="0" err="1"/>
              <a:t>ms</a:t>
            </a:r>
            <a:r>
              <a:rPr lang="en-CA" baseline="0" dirty="0"/>
              <a:t>, Lower is better.</a:t>
            </a:r>
            <a:endParaRPr lang="en-CA"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Ours</c:v>
                </c:pt>
              </c:strCache>
            </c:strRef>
          </c:tx>
          <c:spPr>
            <a:solidFill>
              <a:schemeClr val="accent1"/>
            </a:solidFill>
            <a:ln>
              <a:noFill/>
            </a:ln>
            <a:effectLst/>
          </c:spPr>
          <c:invertIfNegative val="0"/>
          <c:cat>
            <c:strRef>
              <c:f>Sheet1!$A$2:$A$5</c:f>
              <c:strCache>
                <c:ptCount val="4"/>
                <c:pt idx="0">
                  <c:v>Cold URL Test</c:v>
                </c:pt>
                <c:pt idx="1">
                  <c:v>Warm URL Test</c:v>
                </c:pt>
                <c:pt idx="2">
                  <c:v>Cold Blob</c:v>
                </c:pt>
                <c:pt idx="3">
                  <c:v>Warm Blob</c:v>
                </c:pt>
              </c:strCache>
            </c:strRef>
          </c:cat>
          <c:val>
            <c:numRef>
              <c:f>Sheet1!$B$2:$B$5</c:f>
              <c:numCache>
                <c:formatCode>General</c:formatCode>
                <c:ptCount val="4"/>
                <c:pt idx="0">
                  <c:v>3095</c:v>
                </c:pt>
                <c:pt idx="1">
                  <c:v>598</c:v>
                </c:pt>
                <c:pt idx="2">
                  <c:v>6004</c:v>
                </c:pt>
                <c:pt idx="3">
                  <c:v>3672</c:v>
                </c:pt>
              </c:numCache>
            </c:numRef>
          </c:val>
          <c:extLst>
            <c:ext xmlns:c16="http://schemas.microsoft.com/office/drawing/2014/chart" uri="{C3380CC4-5D6E-409C-BE32-E72D297353CC}">
              <c16:uniqueId val="{00000000-07B1-44C7-939D-F49C53A1561C}"/>
            </c:ext>
          </c:extLst>
        </c:ser>
        <c:ser>
          <c:idx val="1"/>
          <c:order val="1"/>
          <c:tx>
            <c:strRef>
              <c:f>Sheet1!$C$1</c:f>
              <c:strCache>
                <c:ptCount val="1"/>
                <c:pt idx="0">
                  <c:v>Baseline</c:v>
                </c:pt>
              </c:strCache>
            </c:strRef>
          </c:tx>
          <c:spPr>
            <a:solidFill>
              <a:schemeClr val="accent2"/>
            </a:solidFill>
            <a:ln>
              <a:noFill/>
            </a:ln>
            <a:effectLst/>
          </c:spPr>
          <c:invertIfNegative val="0"/>
          <c:cat>
            <c:strRef>
              <c:f>Sheet1!$A$2:$A$5</c:f>
              <c:strCache>
                <c:ptCount val="4"/>
                <c:pt idx="0">
                  <c:v>Cold URL Test</c:v>
                </c:pt>
                <c:pt idx="1">
                  <c:v>Warm URL Test</c:v>
                </c:pt>
                <c:pt idx="2">
                  <c:v>Cold Blob</c:v>
                </c:pt>
                <c:pt idx="3">
                  <c:v>Warm Blob</c:v>
                </c:pt>
              </c:strCache>
            </c:strRef>
          </c:cat>
          <c:val>
            <c:numRef>
              <c:f>Sheet1!$C$2:$C$5</c:f>
              <c:numCache>
                <c:formatCode>General</c:formatCode>
                <c:ptCount val="4"/>
                <c:pt idx="0">
                  <c:v>14392</c:v>
                </c:pt>
                <c:pt idx="1">
                  <c:v>14392</c:v>
                </c:pt>
                <c:pt idx="2">
                  <c:v>14392</c:v>
                </c:pt>
                <c:pt idx="3">
                  <c:v>14392</c:v>
                </c:pt>
              </c:numCache>
            </c:numRef>
          </c:val>
          <c:extLst>
            <c:ext xmlns:c16="http://schemas.microsoft.com/office/drawing/2014/chart" uri="{C3380CC4-5D6E-409C-BE32-E72D297353CC}">
              <c16:uniqueId val="{00000001-07B1-44C7-939D-F49C53A1561C}"/>
            </c:ext>
          </c:extLst>
        </c:ser>
        <c:dLbls>
          <c:showLegendKey val="0"/>
          <c:showVal val="0"/>
          <c:showCatName val="0"/>
          <c:showSerName val="0"/>
          <c:showPercent val="0"/>
          <c:showBubbleSize val="0"/>
        </c:dLbls>
        <c:gapWidth val="219"/>
        <c:overlap val="-27"/>
        <c:axId val="1027675663"/>
        <c:axId val="1027678543"/>
      </c:barChart>
      <c:catAx>
        <c:axId val="1027675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678543"/>
        <c:crosses val="autoZero"/>
        <c:auto val="1"/>
        <c:lblAlgn val="ctr"/>
        <c:lblOffset val="100"/>
        <c:noMultiLvlLbl val="0"/>
      </c:catAx>
      <c:valAx>
        <c:axId val="102767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6756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CA" dirty="0"/>
              <a:t>Time to</a:t>
            </a:r>
            <a:r>
              <a:rPr lang="en-CA" baseline="0" dirty="0"/>
              <a:t> First Word in </a:t>
            </a:r>
            <a:r>
              <a:rPr lang="en-CA" baseline="0" dirty="0" err="1"/>
              <a:t>ms</a:t>
            </a:r>
            <a:r>
              <a:rPr lang="en-CA" baseline="0" dirty="0"/>
              <a:t>, Lower is better.</a:t>
            </a:r>
            <a:endParaRPr lang="en-CA"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CA"/>
        </a:p>
      </c:txPr>
    </c:title>
    <c:autoTitleDeleted val="0"/>
    <c:plotArea>
      <c:layout/>
      <c:barChart>
        <c:barDir val="col"/>
        <c:grouping val="clustered"/>
        <c:varyColors val="0"/>
        <c:ser>
          <c:idx val="0"/>
          <c:order val="0"/>
          <c:tx>
            <c:strRef>
              <c:f>Sheet1!$B$1</c:f>
              <c:strCache>
                <c:ptCount val="1"/>
                <c:pt idx="0">
                  <c:v>Ours</c:v>
                </c:pt>
              </c:strCache>
            </c:strRef>
          </c:tx>
          <c:spPr>
            <a:solidFill>
              <a:schemeClr val="accent1"/>
            </a:solidFill>
            <a:ln>
              <a:noFill/>
            </a:ln>
            <a:effectLst/>
          </c:spPr>
          <c:invertIfNegative val="0"/>
          <c:cat>
            <c:strRef>
              <c:f>Sheet1!$A$2:$A$5</c:f>
              <c:strCache>
                <c:ptCount val="4"/>
                <c:pt idx="0">
                  <c:v>Cold URL Test</c:v>
                </c:pt>
                <c:pt idx="1">
                  <c:v>Warm URL Test</c:v>
                </c:pt>
                <c:pt idx="2">
                  <c:v>Cold Blob</c:v>
                </c:pt>
                <c:pt idx="3">
                  <c:v>Warm Blob</c:v>
                </c:pt>
              </c:strCache>
            </c:strRef>
          </c:cat>
          <c:val>
            <c:numRef>
              <c:f>Sheet1!$B$2:$B$5</c:f>
              <c:numCache>
                <c:formatCode>General</c:formatCode>
                <c:ptCount val="4"/>
                <c:pt idx="0">
                  <c:v>2164</c:v>
                </c:pt>
                <c:pt idx="1">
                  <c:v>4.2</c:v>
                </c:pt>
                <c:pt idx="2">
                  <c:v>2206</c:v>
                </c:pt>
                <c:pt idx="3">
                  <c:v>20</c:v>
                </c:pt>
              </c:numCache>
            </c:numRef>
          </c:val>
          <c:extLst>
            <c:ext xmlns:c16="http://schemas.microsoft.com/office/drawing/2014/chart" uri="{C3380CC4-5D6E-409C-BE32-E72D297353CC}">
              <c16:uniqueId val="{00000000-07B1-44C7-939D-F49C53A1561C}"/>
            </c:ext>
          </c:extLst>
        </c:ser>
        <c:ser>
          <c:idx val="1"/>
          <c:order val="1"/>
          <c:tx>
            <c:strRef>
              <c:f>Sheet1!$C$1</c:f>
              <c:strCache>
                <c:ptCount val="1"/>
                <c:pt idx="0">
                  <c:v>Baseline</c:v>
                </c:pt>
              </c:strCache>
            </c:strRef>
          </c:tx>
          <c:spPr>
            <a:solidFill>
              <a:schemeClr val="accent2"/>
            </a:solidFill>
            <a:ln>
              <a:noFill/>
            </a:ln>
            <a:effectLst/>
          </c:spPr>
          <c:invertIfNegative val="0"/>
          <c:cat>
            <c:strRef>
              <c:f>Sheet1!$A$2:$A$5</c:f>
              <c:strCache>
                <c:ptCount val="4"/>
                <c:pt idx="0">
                  <c:v>Cold URL Test</c:v>
                </c:pt>
                <c:pt idx="1">
                  <c:v>Warm URL Test</c:v>
                </c:pt>
                <c:pt idx="2">
                  <c:v>Cold Blob</c:v>
                </c:pt>
                <c:pt idx="3">
                  <c:v>Warm Blob</c:v>
                </c:pt>
              </c:strCache>
            </c:strRef>
          </c:cat>
          <c:val>
            <c:numRef>
              <c:f>Sheet1!$C$2:$C$5</c:f>
              <c:numCache>
                <c:formatCode>General</c:formatCode>
                <c:ptCount val="4"/>
                <c:pt idx="0">
                  <c:v>4583</c:v>
                </c:pt>
                <c:pt idx="1">
                  <c:v>4583</c:v>
                </c:pt>
                <c:pt idx="2">
                  <c:v>4583</c:v>
                </c:pt>
                <c:pt idx="3">
                  <c:v>4583</c:v>
                </c:pt>
              </c:numCache>
            </c:numRef>
          </c:val>
          <c:extLst>
            <c:ext xmlns:c16="http://schemas.microsoft.com/office/drawing/2014/chart" uri="{C3380CC4-5D6E-409C-BE32-E72D297353CC}">
              <c16:uniqueId val="{00000001-07B1-44C7-939D-F49C53A1561C}"/>
            </c:ext>
          </c:extLst>
        </c:ser>
        <c:dLbls>
          <c:showLegendKey val="0"/>
          <c:showVal val="0"/>
          <c:showCatName val="0"/>
          <c:showSerName val="0"/>
          <c:showPercent val="0"/>
          <c:showBubbleSize val="0"/>
        </c:dLbls>
        <c:gapWidth val="219"/>
        <c:overlap val="-27"/>
        <c:axId val="1027675663"/>
        <c:axId val="1027678543"/>
      </c:barChart>
      <c:catAx>
        <c:axId val="1027675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678543"/>
        <c:crosses val="autoZero"/>
        <c:auto val="1"/>
        <c:lblAlgn val="ctr"/>
        <c:lblOffset val="100"/>
        <c:noMultiLvlLbl val="0"/>
      </c:catAx>
      <c:valAx>
        <c:axId val="102767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6756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4/7/2026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6350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4/7/2026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66430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4/7/2026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890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4/7/2026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00723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4/7/2026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27749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4/7/2026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9586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4/7/2026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6278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4/7/2026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9276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4/7/2026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65149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4/7/2026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3125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4/7/2026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756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4/7/2026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63593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9276B49D-BBED-C3A7-490E-D277755F5555}"/>
              </a:ext>
            </a:extLst>
          </p:cNvPr>
          <p:cNvPicPr>
            <a:picLocks noChangeAspect="1"/>
          </p:cNvPicPr>
          <p:nvPr/>
        </p:nvPicPr>
        <p:blipFill>
          <a:blip r:embed="rId2"/>
          <a:srcRect t="9639"/>
          <a:stretch>
            <a:fillRect/>
          </a:stretch>
        </p:blipFill>
        <p:spPr>
          <a:xfrm>
            <a:off x="1" y="10"/>
            <a:ext cx="12192000" cy="6857990"/>
          </a:xfrm>
          <a:prstGeom prst="rect">
            <a:avLst/>
          </a:prstGeom>
        </p:spPr>
      </p:pic>
      <p:sp useBgFill="1">
        <p:nvSpPr>
          <p:cNvPr id="17" name="Rectangle 16">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179C4-1218-6474-973B-59CA2F25D25D}"/>
              </a:ext>
            </a:extLst>
          </p:cNvPr>
          <p:cNvSpPr>
            <a:spLocks noGrp="1"/>
          </p:cNvSpPr>
          <p:nvPr>
            <p:ph type="ctrTitle"/>
          </p:nvPr>
        </p:nvSpPr>
        <p:spPr>
          <a:xfrm>
            <a:off x="898737" y="1562101"/>
            <a:ext cx="4359744" cy="2738530"/>
          </a:xfrm>
        </p:spPr>
        <p:txBody>
          <a:bodyPr anchor="t">
            <a:normAutofit/>
          </a:bodyPr>
          <a:lstStyle/>
          <a:p>
            <a:r>
              <a:rPr lang="en-US" dirty="0"/>
              <a:t>Team </a:t>
            </a:r>
            <a:r>
              <a:rPr lang="en-US" dirty="0" err="1"/>
              <a:t>Satelites</a:t>
            </a:r>
            <a:endParaRPr lang="en-CA" dirty="0"/>
          </a:p>
        </p:txBody>
      </p:sp>
      <p:sp>
        <p:nvSpPr>
          <p:cNvPr id="3" name="Subtitle 2">
            <a:extLst>
              <a:ext uri="{FF2B5EF4-FFF2-40B4-BE49-F238E27FC236}">
                <a16:creationId xmlns:a16="http://schemas.microsoft.com/office/drawing/2014/main" id="{F7FB7E58-B7CE-8E17-0C4B-B5C4D50D5B87}"/>
              </a:ext>
            </a:extLst>
          </p:cNvPr>
          <p:cNvSpPr>
            <a:spLocks noGrp="1"/>
          </p:cNvSpPr>
          <p:nvPr>
            <p:ph type="subTitle" idx="1"/>
          </p:nvPr>
        </p:nvSpPr>
        <p:spPr>
          <a:xfrm>
            <a:off x="900273" y="4300631"/>
            <a:ext cx="4358208" cy="933760"/>
          </a:xfrm>
        </p:spPr>
        <p:txBody>
          <a:bodyPr>
            <a:normAutofit/>
          </a:bodyPr>
          <a:lstStyle/>
          <a:p>
            <a:r>
              <a:rPr lang="en-US" dirty="0"/>
              <a:t>CSCI 2356</a:t>
            </a:r>
            <a:endParaRPr lang="en-CA" dirty="0"/>
          </a:p>
        </p:txBody>
      </p:sp>
      <p:cxnSp>
        <p:nvCxnSpPr>
          <p:cNvPr id="18" name="Straight Connector 17">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179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7D1EBE-3A2C-FDE2-804C-0335A4FF4921}"/>
              </a:ext>
            </a:extLst>
          </p:cNvPr>
          <p:cNvSpPr>
            <a:spLocks noGrp="1"/>
          </p:cNvSpPr>
          <p:nvPr>
            <p:ph type="title"/>
          </p:nvPr>
        </p:nvSpPr>
        <p:spPr>
          <a:xfrm>
            <a:off x="640079" y="1371601"/>
            <a:ext cx="10890929" cy="1097280"/>
          </a:xfrm>
        </p:spPr>
        <p:txBody>
          <a:bodyPr anchor="t">
            <a:normAutofit/>
          </a:bodyPr>
          <a:lstStyle/>
          <a:p>
            <a:r>
              <a:rPr lang="en-US" dirty="0"/>
              <a:t>The Problem.</a:t>
            </a:r>
            <a:endParaRPr lang="en-CA" dirty="0"/>
          </a:p>
        </p:txBody>
      </p:sp>
      <p:sp>
        <p:nvSpPr>
          <p:cNvPr id="3" name="Content Placeholder 2">
            <a:extLst>
              <a:ext uri="{FF2B5EF4-FFF2-40B4-BE49-F238E27FC236}">
                <a16:creationId xmlns:a16="http://schemas.microsoft.com/office/drawing/2014/main" id="{B7B420F3-570B-B5D4-7FC0-FE24F2B2A0D6}"/>
              </a:ext>
            </a:extLst>
          </p:cNvPr>
          <p:cNvSpPr>
            <a:spLocks noGrp="1"/>
          </p:cNvSpPr>
          <p:nvPr>
            <p:ph idx="1"/>
          </p:nvPr>
        </p:nvSpPr>
        <p:spPr>
          <a:xfrm>
            <a:off x="640079" y="2633472"/>
            <a:ext cx="10890929" cy="3666744"/>
          </a:xfrm>
        </p:spPr>
        <p:txBody>
          <a:bodyPr>
            <a:normAutofit/>
          </a:bodyPr>
          <a:lstStyle/>
          <a:p>
            <a:r>
              <a:rPr lang="en-US" dirty="0"/>
              <a:t>We Found that the template we were given for the extension would fail under real world conditions and was not efficient in its handling of requests. This leads to longer wait times for the client to receive their transcriptions</a:t>
            </a:r>
            <a:endParaRPr lang="en-CA" dirty="0"/>
          </a:p>
        </p:txBody>
      </p:sp>
      <p:cxnSp>
        <p:nvCxnSpPr>
          <p:cNvPr id="10" name="Straight Connector 9">
            <a:extLst>
              <a:ext uri="{FF2B5EF4-FFF2-40B4-BE49-F238E27FC236}">
                <a16:creationId xmlns:a16="http://schemas.microsoft.com/office/drawing/2014/main" id="{EB1E2835-13A9-CE41-5BA6-8BF45C9EE0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541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B47C-7F62-B477-E266-E90DCD6B6707}"/>
              </a:ext>
            </a:extLst>
          </p:cNvPr>
          <p:cNvSpPr>
            <a:spLocks noGrp="1"/>
          </p:cNvSpPr>
          <p:nvPr>
            <p:ph type="title"/>
          </p:nvPr>
        </p:nvSpPr>
        <p:spPr/>
        <p:txBody>
          <a:bodyPr/>
          <a:lstStyle/>
          <a:p>
            <a:r>
              <a:rPr lang="en-US" dirty="0"/>
              <a:t>Goals / What We Optimized For</a:t>
            </a:r>
            <a:endParaRPr lang="en-CA" dirty="0"/>
          </a:p>
        </p:txBody>
      </p:sp>
      <p:sp>
        <p:nvSpPr>
          <p:cNvPr id="3" name="Content Placeholder 2">
            <a:extLst>
              <a:ext uri="{FF2B5EF4-FFF2-40B4-BE49-F238E27FC236}">
                <a16:creationId xmlns:a16="http://schemas.microsoft.com/office/drawing/2014/main" id="{759A2D87-A26D-5544-DB47-01DF7BD8D06C}"/>
              </a:ext>
            </a:extLst>
          </p:cNvPr>
          <p:cNvSpPr>
            <a:spLocks noGrp="1"/>
          </p:cNvSpPr>
          <p:nvPr>
            <p:ph idx="1"/>
          </p:nvPr>
        </p:nvSpPr>
        <p:spPr/>
        <p:txBody>
          <a:bodyPr/>
          <a:lstStyle/>
          <a:p>
            <a:r>
              <a:rPr lang="en-US" dirty="0"/>
              <a:t>We Aimed to have the lowest latency possible while maintaining high compatibility with all image formats, </a:t>
            </a:r>
          </a:p>
          <a:p>
            <a:r>
              <a:rPr lang="en-US" dirty="0"/>
              <a:t>Our goals were: </a:t>
            </a:r>
          </a:p>
          <a:p>
            <a:pPr lvl="1"/>
            <a:r>
              <a:rPr lang="en-US" dirty="0"/>
              <a:t>Low Latency</a:t>
            </a:r>
          </a:p>
          <a:p>
            <a:pPr lvl="1"/>
            <a:r>
              <a:rPr lang="en-US" dirty="0"/>
              <a:t>Real-World Robustness (Not just perfect blobs)</a:t>
            </a:r>
          </a:p>
          <a:p>
            <a:pPr lvl="1"/>
            <a:r>
              <a:rPr lang="en-US" dirty="0"/>
              <a:t>Zero Unnecessary data transfer</a:t>
            </a:r>
          </a:p>
          <a:p>
            <a:pPr lvl="1"/>
            <a:r>
              <a:rPr lang="en-US" dirty="0"/>
              <a:t>Scalability.</a:t>
            </a:r>
            <a:endParaRPr lang="en-CA" dirty="0"/>
          </a:p>
        </p:txBody>
      </p:sp>
    </p:spTree>
    <p:extLst>
      <p:ext uri="{BB962C8B-B14F-4D97-AF65-F5344CB8AC3E}">
        <p14:creationId xmlns:p14="http://schemas.microsoft.com/office/powerpoint/2010/main" val="3743580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D56FA-8B45-E9B8-9237-8C5A5A58D22B}"/>
              </a:ext>
            </a:extLst>
          </p:cNvPr>
          <p:cNvSpPr>
            <a:spLocks noGrp="1"/>
          </p:cNvSpPr>
          <p:nvPr>
            <p:ph type="title"/>
          </p:nvPr>
        </p:nvSpPr>
        <p:spPr/>
        <p:txBody>
          <a:bodyPr/>
          <a:lstStyle/>
          <a:p>
            <a:r>
              <a:rPr lang="en-US" dirty="0"/>
              <a:t>How was work distributed</a:t>
            </a:r>
            <a:endParaRPr lang="en-CA" dirty="0"/>
          </a:p>
        </p:txBody>
      </p:sp>
      <p:sp>
        <p:nvSpPr>
          <p:cNvPr id="3" name="Content Placeholder 2">
            <a:extLst>
              <a:ext uri="{FF2B5EF4-FFF2-40B4-BE49-F238E27FC236}">
                <a16:creationId xmlns:a16="http://schemas.microsoft.com/office/drawing/2014/main" id="{0552A659-DE76-A130-C4F8-25B59D6301FA}"/>
              </a:ext>
            </a:extLst>
          </p:cNvPr>
          <p:cNvSpPr>
            <a:spLocks noGrp="1"/>
          </p:cNvSpPr>
          <p:nvPr>
            <p:ph idx="1"/>
          </p:nvPr>
        </p:nvSpPr>
        <p:spPr/>
        <p:txBody>
          <a:bodyPr/>
          <a:lstStyle/>
          <a:p>
            <a:r>
              <a:rPr lang="en-US" dirty="0"/>
              <a:t>Gavin Geizer: Database Implementation, Benchmarking, URL and Screenshot implementation</a:t>
            </a:r>
          </a:p>
          <a:p>
            <a:r>
              <a:rPr lang="en-US" dirty="0"/>
              <a:t>Matthew </a:t>
            </a:r>
            <a:r>
              <a:rPr lang="en-US" dirty="0" err="1"/>
              <a:t>Meede</a:t>
            </a:r>
            <a:r>
              <a:rPr lang="en-US" dirty="0"/>
              <a:t>: Test Cases, QA, Testing, Jira Managing, Model Research, Logging Implementation</a:t>
            </a:r>
          </a:p>
          <a:p>
            <a:r>
              <a:rPr lang="en-US" dirty="0"/>
              <a:t>Ajay Vasudevan: Test Cases, QA, Testing, Model Research, Rollback Research, Logging Implementation</a:t>
            </a:r>
            <a:endParaRPr lang="en-CA" dirty="0"/>
          </a:p>
        </p:txBody>
      </p:sp>
    </p:spTree>
    <p:extLst>
      <p:ext uri="{BB962C8B-B14F-4D97-AF65-F5344CB8AC3E}">
        <p14:creationId xmlns:p14="http://schemas.microsoft.com/office/powerpoint/2010/main" val="194922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1BBA-F838-4D2B-7453-155FE0DF1944}"/>
              </a:ext>
            </a:extLst>
          </p:cNvPr>
          <p:cNvSpPr>
            <a:spLocks noGrp="1"/>
          </p:cNvSpPr>
          <p:nvPr>
            <p:ph type="title"/>
          </p:nvPr>
        </p:nvSpPr>
        <p:spPr>
          <a:xfrm>
            <a:off x="650535" y="330868"/>
            <a:ext cx="10890929" cy="1097280"/>
          </a:xfrm>
        </p:spPr>
        <p:txBody>
          <a:bodyPr/>
          <a:lstStyle/>
          <a:p>
            <a:r>
              <a:rPr lang="en-CA" dirty="0"/>
              <a:t>Baseline System (Professor’s Version)</a:t>
            </a:r>
          </a:p>
        </p:txBody>
      </p:sp>
      <p:sp>
        <p:nvSpPr>
          <p:cNvPr id="4" name="TextBox 3">
            <a:extLst>
              <a:ext uri="{FF2B5EF4-FFF2-40B4-BE49-F238E27FC236}">
                <a16:creationId xmlns:a16="http://schemas.microsoft.com/office/drawing/2014/main" id="{632B27C3-20CF-69CF-30BB-BB13C6838F92}"/>
              </a:ext>
            </a:extLst>
          </p:cNvPr>
          <p:cNvSpPr txBox="1"/>
          <p:nvPr/>
        </p:nvSpPr>
        <p:spPr>
          <a:xfrm>
            <a:off x="571500" y="1245268"/>
            <a:ext cx="10890929" cy="646331"/>
          </a:xfrm>
          <a:prstGeom prst="rect">
            <a:avLst/>
          </a:prstGeom>
          <a:noFill/>
        </p:spPr>
        <p:txBody>
          <a:bodyPr wrap="square" rtlCol="0">
            <a:spAutoFit/>
          </a:bodyPr>
          <a:lstStyle/>
          <a:p>
            <a:r>
              <a:rPr lang="en-US" dirty="0"/>
              <a:t>The Professors implementation was our starting point, It had its primary transfer method be that of a Blob Transfer. Blob is Reliable for the most part so this was a great choice for his example.</a:t>
            </a:r>
            <a:endParaRPr lang="en-CA" dirty="0"/>
          </a:p>
        </p:txBody>
      </p:sp>
      <p:sp>
        <p:nvSpPr>
          <p:cNvPr id="5" name="Rectangle 4">
            <a:extLst>
              <a:ext uri="{FF2B5EF4-FFF2-40B4-BE49-F238E27FC236}">
                <a16:creationId xmlns:a16="http://schemas.microsoft.com/office/drawing/2014/main" id="{945F9B23-8A41-0D2E-D8AD-60C20CA6814F}"/>
              </a:ext>
            </a:extLst>
          </p:cNvPr>
          <p:cNvSpPr/>
          <p:nvPr/>
        </p:nvSpPr>
        <p:spPr>
          <a:xfrm>
            <a:off x="6340642" y="6009911"/>
            <a:ext cx="818147"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endParaRPr lang="en-CA" dirty="0"/>
          </a:p>
        </p:txBody>
      </p:sp>
      <p:cxnSp>
        <p:nvCxnSpPr>
          <p:cNvPr id="7" name="Straight Arrow Connector 6">
            <a:extLst>
              <a:ext uri="{FF2B5EF4-FFF2-40B4-BE49-F238E27FC236}">
                <a16:creationId xmlns:a16="http://schemas.microsoft.com/office/drawing/2014/main" id="{B3EAB498-ADDF-44D7-2649-21DCB1861BC8}"/>
              </a:ext>
            </a:extLst>
          </p:cNvPr>
          <p:cNvCxnSpPr>
            <a:cxnSpLocks/>
          </p:cNvCxnSpPr>
          <p:nvPr/>
        </p:nvCxnSpPr>
        <p:spPr>
          <a:xfrm flipV="1">
            <a:off x="6394784" y="5041368"/>
            <a:ext cx="0" cy="872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BC7EBF6-BB08-15E6-1D3B-F96715C8312A}"/>
              </a:ext>
            </a:extLst>
          </p:cNvPr>
          <p:cNvSpPr txBox="1"/>
          <p:nvPr/>
        </p:nvSpPr>
        <p:spPr>
          <a:xfrm>
            <a:off x="5390149" y="5316851"/>
            <a:ext cx="950493" cy="584775"/>
          </a:xfrm>
          <a:prstGeom prst="rect">
            <a:avLst/>
          </a:prstGeom>
          <a:noFill/>
        </p:spPr>
        <p:txBody>
          <a:bodyPr wrap="square" rtlCol="0">
            <a:spAutoFit/>
          </a:bodyPr>
          <a:lstStyle/>
          <a:p>
            <a:r>
              <a:rPr lang="en-US" sz="1600" dirty="0"/>
              <a:t>1: Sends Blob</a:t>
            </a:r>
            <a:endParaRPr lang="en-CA" sz="1600" dirty="0"/>
          </a:p>
        </p:txBody>
      </p:sp>
      <p:sp>
        <p:nvSpPr>
          <p:cNvPr id="10" name="Rectangle 9">
            <a:extLst>
              <a:ext uri="{FF2B5EF4-FFF2-40B4-BE49-F238E27FC236}">
                <a16:creationId xmlns:a16="http://schemas.microsoft.com/office/drawing/2014/main" id="{43F4D793-093C-26BA-FEA8-8FFAF3176FC2}"/>
              </a:ext>
            </a:extLst>
          </p:cNvPr>
          <p:cNvSpPr/>
          <p:nvPr/>
        </p:nvSpPr>
        <p:spPr>
          <a:xfrm>
            <a:off x="6340641" y="4449181"/>
            <a:ext cx="818147"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Mapd</a:t>
            </a:r>
            <a:endParaRPr lang="en-CA" dirty="0"/>
          </a:p>
        </p:txBody>
      </p:sp>
      <p:sp>
        <p:nvSpPr>
          <p:cNvPr id="11" name="Rectangle 10">
            <a:extLst>
              <a:ext uri="{FF2B5EF4-FFF2-40B4-BE49-F238E27FC236}">
                <a16:creationId xmlns:a16="http://schemas.microsoft.com/office/drawing/2014/main" id="{B00D1E9C-83AE-3E0B-CEA0-7A3166CEBEFC}"/>
              </a:ext>
            </a:extLst>
          </p:cNvPr>
          <p:cNvSpPr/>
          <p:nvPr/>
        </p:nvSpPr>
        <p:spPr>
          <a:xfrm>
            <a:off x="6208295" y="2800564"/>
            <a:ext cx="1112919"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OpenAI</a:t>
            </a:r>
            <a:endParaRPr lang="en-CA" dirty="0"/>
          </a:p>
        </p:txBody>
      </p:sp>
      <p:cxnSp>
        <p:nvCxnSpPr>
          <p:cNvPr id="12" name="Straight Arrow Connector 11">
            <a:extLst>
              <a:ext uri="{FF2B5EF4-FFF2-40B4-BE49-F238E27FC236}">
                <a16:creationId xmlns:a16="http://schemas.microsoft.com/office/drawing/2014/main" id="{C106B297-5CC3-7E47-301A-94D256CDD92E}"/>
              </a:ext>
            </a:extLst>
          </p:cNvPr>
          <p:cNvCxnSpPr>
            <a:cxnSpLocks/>
          </p:cNvCxnSpPr>
          <p:nvPr/>
        </p:nvCxnSpPr>
        <p:spPr>
          <a:xfrm flipV="1">
            <a:off x="6354676" y="3352936"/>
            <a:ext cx="0" cy="872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3644CF5-BB7D-AD1A-A165-9A58DF70290D}"/>
              </a:ext>
            </a:extLst>
          </p:cNvPr>
          <p:cNvSpPr txBox="1"/>
          <p:nvPr/>
        </p:nvSpPr>
        <p:spPr>
          <a:xfrm>
            <a:off x="4969045" y="3598277"/>
            <a:ext cx="1289382" cy="584775"/>
          </a:xfrm>
          <a:prstGeom prst="rect">
            <a:avLst/>
          </a:prstGeom>
          <a:noFill/>
        </p:spPr>
        <p:txBody>
          <a:bodyPr wrap="square" rtlCol="0">
            <a:spAutoFit/>
          </a:bodyPr>
          <a:lstStyle/>
          <a:p>
            <a:r>
              <a:rPr lang="en-US" sz="1600" dirty="0"/>
              <a:t>2: Forwards Blob</a:t>
            </a:r>
            <a:endParaRPr lang="en-CA" sz="1600" dirty="0"/>
          </a:p>
        </p:txBody>
      </p:sp>
      <p:sp>
        <p:nvSpPr>
          <p:cNvPr id="14" name="TextBox 13">
            <a:extLst>
              <a:ext uri="{FF2B5EF4-FFF2-40B4-BE49-F238E27FC236}">
                <a16:creationId xmlns:a16="http://schemas.microsoft.com/office/drawing/2014/main" id="{094F5980-FFE6-DB3F-8FEE-E1D14283B01F}"/>
              </a:ext>
            </a:extLst>
          </p:cNvPr>
          <p:cNvSpPr txBox="1"/>
          <p:nvPr/>
        </p:nvSpPr>
        <p:spPr>
          <a:xfrm>
            <a:off x="6105023" y="2075204"/>
            <a:ext cx="1289382" cy="338554"/>
          </a:xfrm>
          <a:prstGeom prst="rect">
            <a:avLst/>
          </a:prstGeom>
          <a:noFill/>
        </p:spPr>
        <p:txBody>
          <a:bodyPr wrap="square" rtlCol="0">
            <a:spAutoFit/>
          </a:bodyPr>
          <a:lstStyle/>
          <a:p>
            <a:r>
              <a:rPr lang="en-US" sz="1600" dirty="0"/>
              <a:t>3: Process</a:t>
            </a:r>
            <a:endParaRPr lang="en-CA" sz="1600" dirty="0"/>
          </a:p>
        </p:txBody>
      </p:sp>
      <p:cxnSp>
        <p:nvCxnSpPr>
          <p:cNvPr id="15" name="Straight Arrow Connector 14">
            <a:extLst>
              <a:ext uri="{FF2B5EF4-FFF2-40B4-BE49-F238E27FC236}">
                <a16:creationId xmlns:a16="http://schemas.microsoft.com/office/drawing/2014/main" id="{C65B9593-C153-4DC5-75A0-48A75BD0B2C8}"/>
              </a:ext>
            </a:extLst>
          </p:cNvPr>
          <p:cNvCxnSpPr>
            <a:cxnSpLocks/>
          </p:cNvCxnSpPr>
          <p:nvPr/>
        </p:nvCxnSpPr>
        <p:spPr>
          <a:xfrm>
            <a:off x="7158788" y="3308821"/>
            <a:ext cx="0" cy="965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A4DB698-28DF-AF50-9FE9-3E4D3C1BB2C8}"/>
              </a:ext>
            </a:extLst>
          </p:cNvPr>
          <p:cNvSpPr txBox="1"/>
          <p:nvPr/>
        </p:nvSpPr>
        <p:spPr>
          <a:xfrm>
            <a:off x="7158788" y="3293859"/>
            <a:ext cx="1289382" cy="338554"/>
          </a:xfrm>
          <a:prstGeom prst="rect">
            <a:avLst/>
          </a:prstGeom>
          <a:noFill/>
        </p:spPr>
        <p:txBody>
          <a:bodyPr wrap="square" rtlCol="0">
            <a:spAutoFit/>
          </a:bodyPr>
          <a:lstStyle/>
          <a:p>
            <a:r>
              <a:rPr lang="en-US" sz="1600" dirty="0"/>
              <a:t>4: Response</a:t>
            </a:r>
            <a:endParaRPr lang="en-CA" sz="1600" dirty="0"/>
          </a:p>
        </p:txBody>
      </p:sp>
      <p:cxnSp>
        <p:nvCxnSpPr>
          <p:cNvPr id="19" name="Straight Arrow Connector 18">
            <a:extLst>
              <a:ext uri="{FF2B5EF4-FFF2-40B4-BE49-F238E27FC236}">
                <a16:creationId xmlns:a16="http://schemas.microsoft.com/office/drawing/2014/main" id="{BAA271F5-0966-BD6C-8EC3-8A7E6F740D13}"/>
              </a:ext>
            </a:extLst>
          </p:cNvPr>
          <p:cNvCxnSpPr>
            <a:cxnSpLocks/>
          </p:cNvCxnSpPr>
          <p:nvPr/>
        </p:nvCxnSpPr>
        <p:spPr>
          <a:xfrm>
            <a:off x="7214935" y="4908018"/>
            <a:ext cx="0" cy="965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8203BF1-F9A3-5791-BAE7-2A2466199C93}"/>
              </a:ext>
            </a:extLst>
          </p:cNvPr>
          <p:cNvSpPr txBox="1"/>
          <p:nvPr/>
        </p:nvSpPr>
        <p:spPr>
          <a:xfrm>
            <a:off x="7467598" y="5098371"/>
            <a:ext cx="1289382" cy="584775"/>
          </a:xfrm>
          <a:prstGeom prst="rect">
            <a:avLst/>
          </a:prstGeom>
          <a:noFill/>
        </p:spPr>
        <p:txBody>
          <a:bodyPr wrap="square" rtlCol="0">
            <a:spAutoFit/>
          </a:bodyPr>
          <a:lstStyle/>
          <a:p>
            <a:r>
              <a:rPr lang="en-US" sz="1600" dirty="0"/>
              <a:t>5: Forwards Response</a:t>
            </a:r>
            <a:endParaRPr lang="en-CA" sz="1600" dirty="0"/>
          </a:p>
        </p:txBody>
      </p:sp>
      <p:sp>
        <p:nvSpPr>
          <p:cNvPr id="21" name="TextBox 20">
            <a:extLst>
              <a:ext uri="{FF2B5EF4-FFF2-40B4-BE49-F238E27FC236}">
                <a16:creationId xmlns:a16="http://schemas.microsoft.com/office/drawing/2014/main" id="{3E800C81-0510-47E4-839E-DD69E699B6FE}"/>
              </a:ext>
            </a:extLst>
          </p:cNvPr>
          <p:cNvSpPr txBox="1"/>
          <p:nvPr/>
        </p:nvSpPr>
        <p:spPr>
          <a:xfrm>
            <a:off x="2316079" y="3429000"/>
            <a:ext cx="2358190" cy="923330"/>
          </a:xfrm>
          <a:prstGeom prst="rect">
            <a:avLst/>
          </a:prstGeom>
          <a:noFill/>
        </p:spPr>
        <p:txBody>
          <a:bodyPr wrap="square" rtlCol="0">
            <a:spAutoFit/>
          </a:bodyPr>
          <a:lstStyle/>
          <a:p>
            <a:r>
              <a:rPr lang="en-US" dirty="0"/>
              <a:t>We have here a diagram of the templates flow.</a:t>
            </a:r>
            <a:endParaRPr lang="en-CA" dirty="0"/>
          </a:p>
        </p:txBody>
      </p:sp>
    </p:spTree>
    <p:extLst>
      <p:ext uri="{BB962C8B-B14F-4D97-AF65-F5344CB8AC3E}">
        <p14:creationId xmlns:p14="http://schemas.microsoft.com/office/powerpoint/2010/main" val="910286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A8C21-C8F7-8F55-C5E9-361A4E710844}"/>
              </a:ext>
            </a:extLst>
          </p:cNvPr>
          <p:cNvSpPr>
            <a:spLocks noGrp="1"/>
          </p:cNvSpPr>
          <p:nvPr>
            <p:ph type="title"/>
          </p:nvPr>
        </p:nvSpPr>
        <p:spPr>
          <a:xfrm>
            <a:off x="640078" y="144380"/>
            <a:ext cx="10890929" cy="733925"/>
          </a:xfrm>
        </p:spPr>
        <p:txBody>
          <a:bodyPr/>
          <a:lstStyle/>
          <a:p>
            <a:r>
              <a:rPr lang="en-US" dirty="0"/>
              <a:t>Our Architecture </a:t>
            </a:r>
            <a:endParaRPr lang="en-CA" dirty="0"/>
          </a:p>
        </p:txBody>
      </p:sp>
      <p:sp>
        <p:nvSpPr>
          <p:cNvPr id="8" name="Rectangle 7">
            <a:extLst>
              <a:ext uri="{FF2B5EF4-FFF2-40B4-BE49-F238E27FC236}">
                <a16:creationId xmlns:a16="http://schemas.microsoft.com/office/drawing/2014/main" id="{916487F0-8FA4-804E-BAF9-C66FF57BB834}"/>
              </a:ext>
            </a:extLst>
          </p:cNvPr>
          <p:cNvSpPr/>
          <p:nvPr/>
        </p:nvSpPr>
        <p:spPr>
          <a:xfrm>
            <a:off x="838596" y="4987227"/>
            <a:ext cx="818147"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endParaRPr lang="en-CA" dirty="0"/>
          </a:p>
        </p:txBody>
      </p:sp>
      <p:cxnSp>
        <p:nvCxnSpPr>
          <p:cNvPr id="9" name="Straight Arrow Connector 8">
            <a:extLst>
              <a:ext uri="{FF2B5EF4-FFF2-40B4-BE49-F238E27FC236}">
                <a16:creationId xmlns:a16="http://schemas.microsoft.com/office/drawing/2014/main" id="{E1BF9FC6-84C5-0779-5A34-B05E49FD8063}"/>
              </a:ext>
            </a:extLst>
          </p:cNvPr>
          <p:cNvCxnSpPr>
            <a:cxnSpLocks/>
          </p:cNvCxnSpPr>
          <p:nvPr/>
        </p:nvCxnSpPr>
        <p:spPr>
          <a:xfrm flipV="1">
            <a:off x="892738" y="4018684"/>
            <a:ext cx="0" cy="872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420B144-47DC-01F6-872D-0BB3AF76F7E5}"/>
              </a:ext>
            </a:extLst>
          </p:cNvPr>
          <p:cNvSpPr/>
          <p:nvPr/>
        </p:nvSpPr>
        <p:spPr>
          <a:xfrm>
            <a:off x="838595" y="3426497"/>
            <a:ext cx="818147"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Mapd</a:t>
            </a:r>
            <a:endParaRPr lang="en-CA" dirty="0"/>
          </a:p>
        </p:txBody>
      </p:sp>
      <p:sp>
        <p:nvSpPr>
          <p:cNvPr id="12" name="Rectangle 11">
            <a:extLst>
              <a:ext uri="{FF2B5EF4-FFF2-40B4-BE49-F238E27FC236}">
                <a16:creationId xmlns:a16="http://schemas.microsoft.com/office/drawing/2014/main" id="{7D2964E8-FB34-BA29-45A6-7F734EBF6A12}"/>
              </a:ext>
            </a:extLst>
          </p:cNvPr>
          <p:cNvSpPr/>
          <p:nvPr/>
        </p:nvSpPr>
        <p:spPr>
          <a:xfrm>
            <a:off x="706249" y="1777880"/>
            <a:ext cx="1112919" cy="39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OpenAI</a:t>
            </a:r>
            <a:endParaRPr lang="en-CA" dirty="0"/>
          </a:p>
        </p:txBody>
      </p:sp>
      <p:cxnSp>
        <p:nvCxnSpPr>
          <p:cNvPr id="13" name="Straight Arrow Connector 12">
            <a:extLst>
              <a:ext uri="{FF2B5EF4-FFF2-40B4-BE49-F238E27FC236}">
                <a16:creationId xmlns:a16="http://schemas.microsoft.com/office/drawing/2014/main" id="{431F2780-3129-E09D-D51A-A55B366106E6}"/>
              </a:ext>
            </a:extLst>
          </p:cNvPr>
          <p:cNvCxnSpPr>
            <a:cxnSpLocks/>
          </p:cNvCxnSpPr>
          <p:nvPr/>
        </p:nvCxnSpPr>
        <p:spPr>
          <a:xfrm flipV="1">
            <a:off x="852630" y="2330252"/>
            <a:ext cx="0" cy="872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32F4B0D-63E3-2EBD-F8FB-5C413ECD6B48}"/>
              </a:ext>
            </a:extLst>
          </p:cNvPr>
          <p:cNvCxnSpPr>
            <a:cxnSpLocks/>
          </p:cNvCxnSpPr>
          <p:nvPr/>
        </p:nvCxnSpPr>
        <p:spPr>
          <a:xfrm>
            <a:off x="1656742" y="2286137"/>
            <a:ext cx="0" cy="965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A62D968-8ECA-51C2-7652-7BA050AEA4B1}"/>
              </a:ext>
            </a:extLst>
          </p:cNvPr>
          <p:cNvCxnSpPr>
            <a:cxnSpLocks/>
          </p:cNvCxnSpPr>
          <p:nvPr/>
        </p:nvCxnSpPr>
        <p:spPr>
          <a:xfrm>
            <a:off x="1712889" y="3885334"/>
            <a:ext cx="0" cy="965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09050A5-E50F-550F-6C29-26CDA6ED1EE3}"/>
              </a:ext>
            </a:extLst>
          </p:cNvPr>
          <p:cNvSpPr/>
          <p:nvPr/>
        </p:nvSpPr>
        <p:spPr>
          <a:xfrm>
            <a:off x="2556711" y="3374111"/>
            <a:ext cx="1281361" cy="5018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Database</a:t>
            </a:r>
            <a:endParaRPr lang="en-CA" dirty="0"/>
          </a:p>
        </p:txBody>
      </p:sp>
      <p:cxnSp>
        <p:nvCxnSpPr>
          <p:cNvPr id="22" name="Straight Arrow Connector 21">
            <a:extLst>
              <a:ext uri="{FF2B5EF4-FFF2-40B4-BE49-F238E27FC236}">
                <a16:creationId xmlns:a16="http://schemas.microsoft.com/office/drawing/2014/main" id="{76A91144-7C15-2502-4F31-ABFC4E9BCF51}"/>
              </a:ext>
            </a:extLst>
          </p:cNvPr>
          <p:cNvCxnSpPr/>
          <p:nvPr/>
        </p:nvCxnSpPr>
        <p:spPr>
          <a:xfrm>
            <a:off x="1819168" y="3426497"/>
            <a:ext cx="635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E52140F-7E4D-F510-C672-2666DAB8B277}"/>
              </a:ext>
            </a:extLst>
          </p:cNvPr>
          <p:cNvCxnSpPr/>
          <p:nvPr/>
        </p:nvCxnSpPr>
        <p:spPr>
          <a:xfrm flipH="1">
            <a:off x="1870910" y="3717758"/>
            <a:ext cx="4391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57E5E13-4047-0218-B562-E2FDBB09FFC2}"/>
              </a:ext>
            </a:extLst>
          </p:cNvPr>
          <p:cNvSpPr txBox="1"/>
          <p:nvPr/>
        </p:nvSpPr>
        <p:spPr>
          <a:xfrm>
            <a:off x="4199021" y="878305"/>
            <a:ext cx="7874667" cy="5582234"/>
          </a:xfrm>
          <a:prstGeom prst="rect">
            <a:avLst/>
          </a:prstGeom>
          <a:noFill/>
        </p:spPr>
        <p:txBody>
          <a:bodyPr wrap="square" rtlCol="0">
            <a:spAutoFit/>
          </a:bodyPr>
          <a:lstStyle/>
          <a:p>
            <a:pPr marL="342900" indent="-342900">
              <a:lnSpc>
                <a:spcPct val="150000"/>
              </a:lnSpc>
              <a:buFont typeface="+mj-lt"/>
              <a:buAutoNum type="arabicPeriod"/>
            </a:pPr>
            <a:r>
              <a:rPr lang="en-US" sz="1600" dirty="0"/>
              <a:t>Our Extension does a preliminary check to see if we can transmit the URL, If we can we send the URL to our URL Endpoint, If not we take a blob of the image and send that.</a:t>
            </a:r>
          </a:p>
          <a:p>
            <a:pPr marL="342900" indent="-342900">
              <a:lnSpc>
                <a:spcPct val="150000"/>
              </a:lnSpc>
              <a:buFont typeface="+mj-lt"/>
              <a:buAutoNum type="arabicPeriod"/>
            </a:pPr>
            <a:r>
              <a:rPr lang="en-CA" sz="1600" dirty="0"/>
              <a:t>Upon receiving The URL or Blob we immediately check if the hash is in the server. If not we form the request from memory, we do not download the file onto our server. We then send the request and wait for a reply.</a:t>
            </a:r>
          </a:p>
          <a:p>
            <a:pPr marL="342900" indent="-342900">
              <a:lnSpc>
                <a:spcPct val="150000"/>
              </a:lnSpc>
              <a:buFont typeface="+mj-lt"/>
              <a:buAutoNum type="arabicPeriod"/>
            </a:pPr>
            <a:r>
              <a:rPr lang="en-CA" sz="1600" dirty="0"/>
              <a:t>If OpenAI receives a URL it is unable to handle we get an error, we have implemented a fallback where the server requests that the extension gets the blob instead, if we get an error on the Blob (Which can happen with AVIF images) we ask the extension to take a screenshot and send the server that blob instead</a:t>
            </a:r>
          </a:p>
          <a:p>
            <a:pPr marL="342900" indent="-342900">
              <a:lnSpc>
                <a:spcPct val="150000"/>
              </a:lnSpc>
              <a:buFont typeface="+mj-lt"/>
              <a:buAutoNum type="arabicPeriod"/>
            </a:pPr>
            <a:r>
              <a:rPr lang="en-CA" sz="1600" dirty="0"/>
              <a:t>Upon getting our response back from OpenAI we store the response in the Database with a 1 Hour Expiry, the key is either the sha256 of the blob, or the sha256 of the normalized URL (without JavaScript)</a:t>
            </a:r>
          </a:p>
          <a:p>
            <a:pPr marL="342900" indent="-342900">
              <a:lnSpc>
                <a:spcPct val="150000"/>
              </a:lnSpc>
              <a:buFont typeface="+mj-lt"/>
              <a:buAutoNum type="arabicPeriod"/>
            </a:pPr>
            <a:r>
              <a:rPr lang="en-CA" sz="1600" dirty="0"/>
              <a:t>We return the request back to the client in which it is read to the client via Chrome’s TTS.</a:t>
            </a:r>
          </a:p>
        </p:txBody>
      </p:sp>
    </p:spTree>
    <p:extLst>
      <p:ext uri="{BB962C8B-B14F-4D97-AF65-F5344CB8AC3E}">
        <p14:creationId xmlns:p14="http://schemas.microsoft.com/office/powerpoint/2010/main" val="4084950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2D02E-DB3B-440C-C25C-51AEE443A4C5}"/>
              </a:ext>
            </a:extLst>
          </p:cNvPr>
          <p:cNvSpPr>
            <a:spLocks noGrp="1"/>
          </p:cNvSpPr>
          <p:nvPr>
            <p:ph type="title"/>
          </p:nvPr>
        </p:nvSpPr>
        <p:spPr/>
        <p:txBody>
          <a:bodyPr/>
          <a:lstStyle/>
          <a:p>
            <a:r>
              <a:rPr lang="en-US" dirty="0"/>
              <a:t>Key Optimization #1 — URL-First Strategy</a:t>
            </a:r>
            <a:endParaRPr lang="en-CA" dirty="0"/>
          </a:p>
        </p:txBody>
      </p:sp>
      <p:sp>
        <p:nvSpPr>
          <p:cNvPr id="3" name="Content Placeholder 2">
            <a:extLst>
              <a:ext uri="{FF2B5EF4-FFF2-40B4-BE49-F238E27FC236}">
                <a16:creationId xmlns:a16="http://schemas.microsoft.com/office/drawing/2014/main" id="{4E55D7CA-39AB-E94F-57D7-B33C179391B2}"/>
              </a:ext>
            </a:extLst>
          </p:cNvPr>
          <p:cNvSpPr>
            <a:spLocks noGrp="1"/>
          </p:cNvSpPr>
          <p:nvPr>
            <p:ph idx="1"/>
          </p:nvPr>
        </p:nvSpPr>
        <p:spPr/>
        <p:txBody>
          <a:bodyPr/>
          <a:lstStyle/>
          <a:p>
            <a:r>
              <a:rPr lang="en-US" dirty="0"/>
              <a:t>We opted to use URLs as our primary way of transferring the image, it is faster on fast and especially slow networks, while reducing our need for memory on the server and saving us tokens, We found OpenAI has a quirk where if you give them an image URL instead of a Blob it takes less tokens for the same image.</a:t>
            </a:r>
          </a:p>
          <a:p>
            <a:r>
              <a:rPr lang="en-US" dirty="0"/>
              <a:t>With This change we avoid downloading the image directly to the server which saves us storage, and latency.</a:t>
            </a:r>
            <a:endParaRPr lang="en-CA" dirty="0"/>
          </a:p>
        </p:txBody>
      </p:sp>
    </p:spTree>
    <p:extLst>
      <p:ext uri="{BB962C8B-B14F-4D97-AF65-F5344CB8AC3E}">
        <p14:creationId xmlns:p14="http://schemas.microsoft.com/office/powerpoint/2010/main" val="243881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216B1-C204-A1A9-89A9-8609EC8D0437}"/>
              </a:ext>
            </a:extLst>
          </p:cNvPr>
          <p:cNvSpPr>
            <a:spLocks noGrp="1"/>
          </p:cNvSpPr>
          <p:nvPr>
            <p:ph type="title"/>
          </p:nvPr>
        </p:nvSpPr>
        <p:spPr/>
        <p:txBody>
          <a:bodyPr/>
          <a:lstStyle/>
          <a:p>
            <a:r>
              <a:rPr lang="en-US" dirty="0"/>
              <a:t>Key Optimization #2 — Intelligent Caching</a:t>
            </a:r>
            <a:endParaRPr lang="en-CA" dirty="0"/>
          </a:p>
        </p:txBody>
      </p:sp>
      <p:sp>
        <p:nvSpPr>
          <p:cNvPr id="3" name="Content Placeholder 2">
            <a:extLst>
              <a:ext uri="{FF2B5EF4-FFF2-40B4-BE49-F238E27FC236}">
                <a16:creationId xmlns:a16="http://schemas.microsoft.com/office/drawing/2014/main" id="{A58858A4-A667-40E8-8940-71F2F9280E6B}"/>
              </a:ext>
            </a:extLst>
          </p:cNvPr>
          <p:cNvSpPr>
            <a:spLocks noGrp="1"/>
          </p:cNvSpPr>
          <p:nvPr>
            <p:ph idx="1"/>
          </p:nvPr>
        </p:nvSpPr>
        <p:spPr/>
        <p:txBody>
          <a:bodyPr>
            <a:normAutofit fontScale="85000" lnSpcReduction="10000"/>
          </a:bodyPr>
          <a:lstStyle/>
          <a:p>
            <a:r>
              <a:rPr lang="en-US" dirty="0"/>
              <a:t>We Use hash based storing of the transferred data (URL or Blob)</a:t>
            </a:r>
          </a:p>
          <a:p>
            <a:r>
              <a:rPr lang="en-US" dirty="0"/>
              <a:t>This Avoids running multiple requests for the same URL or Blob and gives us the benefit of returning the transcription from in memory. </a:t>
            </a:r>
          </a:p>
          <a:p>
            <a:r>
              <a:rPr lang="en-US" dirty="0"/>
              <a:t>From Benchmarks which will be shown later in the slide we achieved these speeds:</a:t>
            </a:r>
          </a:p>
          <a:p>
            <a:pPr marL="0" indent="0">
              <a:buNone/>
            </a:pPr>
            <a:r>
              <a:rPr lang="en-US" dirty="0"/>
              <a:t>	Cold URL Time to First word:       2164ms</a:t>
            </a:r>
          </a:p>
          <a:p>
            <a:pPr marL="0" indent="0">
              <a:buNone/>
            </a:pPr>
            <a:r>
              <a:rPr lang="en-US" dirty="0"/>
              <a:t>	Cached URL Time to First word:  11ms</a:t>
            </a:r>
          </a:p>
          <a:p>
            <a:pPr marL="0" indent="0">
              <a:buNone/>
            </a:pPr>
            <a:r>
              <a:rPr lang="en-US" dirty="0"/>
              <a:t>	Cold Blob Time to First word:       2206ms </a:t>
            </a:r>
          </a:p>
          <a:p>
            <a:pPr marL="0" indent="0">
              <a:buNone/>
            </a:pPr>
            <a:r>
              <a:rPr lang="en-US" dirty="0"/>
              <a:t>	Cached Blob Time to First word:  25ms</a:t>
            </a:r>
          </a:p>
          <a:p>
            <a:pPr marL="0" indent="0">
              <a:buNone/>
            </a:pPr>
            <a:r>
              <a:rPr lang="en-US" dirty="0"/>
              <a:t>	</a:t>
            </a:r>
            <a:endParaRPr lang="en-CA" dirty="0"/>
          </a:p>
        </p:txBody>
      </p:sp>
    </p:spTree>
    <p:extLst>
      <p:ext uri="{BB962C8B-B14F-4D97-AF65-F5344CB8AC3E}">
        <p14:creationId xmlns:p14="http://schemas.microsoft.com/office/powerpoint/2010/main" val="842018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B2C2-2305-BC47-87F4-7A7589D136B5}"/>
              </a:ext>
            </a:extLst>
          </p:cNvPr>
          <p:cNvSpPr>
            <a:spLocks noGrp="1"/>
          </p:cNvSpPr>
          <p:nvPr>
            <p:ph type="title"/>
          </p:nvPr>
        </p:nvSpPr>
        <p:spPr/>
        <p:txBody>
          <a:bodyPr>
            <a:normAutofit fontScale="90000"/>
          </a:bodyPr>
          <a:lstStyle/>
          <a:p>
            <a:r>
              <a:rPr lang="en-US" dirty="0"/>
              <a:t>Key Optimization #3 — Robust Image Handling Via Screenshot Fallback</a:t>
            </a:r>
            <a:endParaRPr lang="en-CA" dirty="0"/>
          </a:p>
        </p:txBody>
      </p:sp>
      <p:sp>
        <p:nvSpPr>
          <p:cNvPr id="3" name="Content Placeholder 2">
            <a:extLst>
              <a:ext uri="{FF2B5EF4-FFF2-40B4-BE49-F238E27FC236}">
                <a16:creationId xmlns:a16="http://schemas.microsoft.com/office/drawing/2014/main" id="{7BF441DB-28B4-68F9-EF14-C5554CBF84C7}"/>
              </a:ext>
            </a:extLst>
          </p:cNvPr>
          <p:cNvSpPr>
            <a:spLocks noGrp="1"/>
          </p:cNvSpPr>
          <p:nvPr>
            <p:ph idx="1"/>
          </p:nvPr>
        </p:nvSpPr>
        <p:spPr/>
        <p:txBody>
          <a:bodyPr/>
          <a:lstStyle/>
          <a:p>
            <a:r>
              <a:rPr lang="en-US" dirty="0"/>
              <a:t>With our final screenshot fallback we are able to handle any type of image that’s considered an image in the HTML and MIME standard.</a:t>
            </a:r>
          </a:p>
          <a:p>
            <a:pPr lvl="1"/>
            <a:r>
              <a:rPr lang="en-US" dirty="0"/>
              <a:t>We are able to handle: </a:t>
            </a:r>
          </a:p>
          <a:p>
            <a:pPr lvl="2"/>
            <a:r>
              <a:rPr lang="en-US" dirty="0"/>
              <a:t>AVIF image formats</a:t>
            </a:r>
          </a:p>
          <a:p>
            <a:pPr lvl="2"/>
            <a:r>
              <a:rPr lang="en-US" dirty="0"/>
              <a:t>Canvis Elements</a:t>
            </a:r>
          </a:p>
          <a:p>
            <a:pPr lvl="2"/>
            <a:r>
              <a:rPr lang="en-US" dirty="0"/>
              <a:t>Overlay </a:t>
            </a:r>
            <a:r>
              <a:rPr lang="en-US" dirty="0" err="1"/>
              <a:t>Divs</a:t>
            </a:r>
            <a:r>
              <a:rPr lang="en-US" dirty="0"/>
              <a:t> (Instagram style websites)</a:t>
            </a:r>
          </a:p>
          <a:p>
            <a:pPr lvl="2"/>
            <a:r>
              <a:rPr lang="en-US" dirty="0"/>
              <a:t>With this we have also implemented Dom traversal to find an image if it is hidden behind hyperlinks and </a:t>
            </a:r>
            <a:r>
              <a:rPr lang="en-US" dirty="0" err="1"/>
              <a:t>Divs</a:t>
            </a:r>
            <a:endParaRPr lang="en-CA" dirty="0"/>
          </a:p>
        </p:txBody>
      </p:sp>
    </p:spTree>
    <p:extLst>
      <p:ext uri="{BB962C8B-B14F-4D97-AF65-F5344CB8AC3E}">
        <p14:creationId xmlns:p14="http://schemas.microsoft.com/office/powerpoint/2010/main" val="2743547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AFAF-A020-E41D-C3EA-DEACF7335A9E}"/>
              </a:ext>
            </a:extLst>
          </p:cNvPr>
          <p:cNvSpPr>
            <a:spLocks noGrp="1"/>
          </p:cNvSpPr>
          <p:nvPr>
            <p:ph type="title"/>
          </p:nvPr>
        </p:nvSpPr>
        <p:spPr/>
        <p:txBody>
          <a:bodyPr/>
          <a:lstStyle/>
          <a:p>
            <a:r>
              <a:rPr lang="en-US" dirty="0"/>
              <a:t>Input Strategy Comparison.</a:t>
            </a:r>
            <a:endParaRPr lang="en-CA" dirty="0"/>
          </a:p>
        </p:txBody>
      </p:sp>
      <p:graphicFrame>
        <p:nvGraphicFramePr>
          <p:cNvPr id="4" name="Content Placeholder 3">
            <a:extLst>
              <a:ext uri="{FF2B5EF4-FFF2-40B4-BE49-F238E27FC236}">
                <a16:creationId xmlns:a16="http://schemas.microsoft.com/office/drawing/2014/main" id="{6237FC1D-C40E-F147-9321-103827FA4836}"/>
              </a:ext>
            </a:extLst>
          </p:cNvPr>
          <p:cNvGraphicFramePr>
            <a:graphicFrameLocks noGrp="1"/>
          </p:cNvGraphicFramePr>
          <p:nvPr>
            <p:ph idx="1"/>
            <p:extLst>
              <p:ext uri="{D42A27DB-BD31-4B8C-83A1-F6EECF244321}">
                <p14:modId xmlns:p14="http://schemas.microsoft.com/office/powerpoint/2010/main" val="3608639832"/>
              </p:ext>
            </p:extLst>
          </p:nvPr>
        </p:nvGraphicFramePr>
        <p:xfrm>
          <a:off x="639763" y="2633663"/>
          <a:ext cx="10891836" cy="1483360"/>
        </p:xfrm>
        <a:graphic>
          <a:graphicData uri="http://schemas.openxmlformats.org/drawingml/2006/table">
            <a:tbl>
              <a:tblPr firstRow="1" bandRow="1">
                <a:tableStyleId>{5C22544A-7EE6-4342-B048-85BDC9FD1C3A}</a:tableStyleId>
              </a:tblPr>
              <a:tblGrid>
                <a:gridCol w="2722959">
                  <a:extLst>
                    <a:ext uri="{9D8B030D-6E8A-4147-A177-3AD203B41FA5}">
                      <a16:colId xmlns:a16="http://schemas.microsoft.com/office/drawing/2014/main" val="2660951127"/>
                    </a:ext>
                  </a:extLst>
                </a:gridCol>
                <a:gridCol w="2722959">
                  <a:extLst>
                    <a:ext uri="{9D8B030D-6E8A-4147-A177-3AD203B41FA5}">
                      <a16:colId xmlns:a16="http://schemas.microsoft.com/office/drawing/2014/main" val="2036710406"/>
                    </a:ext>
                  </a:extLst>
                </a:gridCol>
                <a:gridCol w="2722959">
                  <a:extLst>
                    <a:ext uri="{9D8B030D-6E8A-4147-A177-3AD203B41FA5}">
                      <a16:colId xmlns:a16="http://schemas.microsoft.com/office/drawing/2014/main" val="2927792153"/>
                    </a:ext>
                  </a:extLst>
                </a:gridCol>
                <a:gridCol w="2722959">
                  <a:extLst>
                    <a:ext uri="{9D8B030D-6E8A-4147-A177-3AD203B41FA5}">
                      <a16:colId xmlns:a16="http://schemas.microsoft.com/office/drawing/2014/main" val="3170090472"/>
                    </a:ext>
                  </a:extLst>
                </a:gridCol>
              </a:tblGrid>
              <a:tr h="370840">
                <a:tc>
                  <a:txBody>
                    <a:bodyPr/>
                    <a:lstStyle/>
                    <a:p>
                      <a:r>
                        <a:rPr lang="en-US" dirty="0"/>
                        <a:t>Method</a:t>
                      </a:r>
                      <a:endParaRPr lang="en-CA" dirty="0"/>
                    </a:p>
                  </a:txBody>
                  <a:tcPr/>
                </a:tc>
                <a:tc>
                  <a:txBody>
                    <a:bodyPr/>
                    <a:lstStyle/>
                    <a:p>
                      <a:r>
                        <a:rPr lang="en-US" dirty="0"/>
                        <a:t>Speed</a:t>
                      </a:r>
                      <a:endParaRPr lang="en-CA" dirty="0"/>
                    </a:p>
                  </a:txBody>
                  <a:tcPr/>
                </a:tc>
                <a:tc>
                  <a:txBody>
                    <a:bodyPr/>
                    <a:lstStyle/>
                    <a:p>
                      <a:r>
                        <a:rPr lang="en-US" dirty="0"/>
                        <a:t>Reliability</a:t>
                      </a:r>
                      <a:endParaRPr lang="en-CA" dirty="0"/>
                    </a:p>
                  </a:txBody>
                  <a:tcPr/>
                </a:tc>
                <a:tc>
                  <a:txBody>
                    <a:bodyPr/>
                    <a:lstStyle/>
                    <a:p>
                      <a:r>
                        <a:rPr lang="en-US" dirty="0"/>
                        <a:t>Cost</a:t>
                      </a:r>
                      <a:endParaRPr lang="en-CA" dirty="0"/>
                    </a:p>
                  </a:txBody>
                  <a:tcPr/>
                </a:tc>
                <a:extLst>
                  <a:ext uri="{0D108BD9-81ED-4DB2-BD59-A6C34878D82A}">
                    <a16:rowId xmlns:a16="http://schemas.microsoft.com/office/drawing/2014/main" val="17708318"/>
                  </a:ext>
                </a:extLst>
              </a:tr>
              <a:tr h="370840">
                <a:tc>
                  <a:txBody>
                    <a:bodyPr/>
                    <a:lstStyle/>
                    <a:p>
                      <a:r>
                        <a:rPr lang="en-US" dirty="0"/>
                        <a:t>URL</a:t>
                      </a:r>
                      <a:endParaRPr lang="en-CA" dirty="0"/>
                    </a:p>
                  </a:txBody>
                  <a:tcPr/>
                </a:tc>
                <a:tc>
                  <a:txBody>
                    <a:bodyPr/>
                    <a:lstStyle/>
                    <a:p>
                      <a:r>
                        <a:rPr lang="en-US" dirty="0"/>
                        <a:t>Fastest</a:t>
                      </a:r>
                      <a:endParaRPr lang="en-CA" dirty="0"/>
                    </a:p>
                  </a:txBody>
                  <a:tcPr/>
                </a:tc>
                <a:tc>
                  <a:txBody>
                    <a:bodyPr/>
                    <a:lstStyle/>
                    <a:p>
                      <a:r>
                        <a:rPr lang="en-US" dirty="0"/>
                        <a:t>Medium</a:t>
                      </a:r>
                      <a:endParaRPr lang="en-CA" dirty="0"/>
                    </a:p>
                  </a:txBody>
                  <a:tcPr/>
                </a:tc>
                <a:tc>
                  <a:txBody>
                    <a:bodyPr/>
                    <a:lstStyle/>
                    <a:p>
                      <a:r>
                        <a:rPr lang="en-US" dirty="0"/>
                        <a:t>Low</a:t>
                      </a:r>
                      <a:endParaRPr lang="en-CA" dirty="0"/>
                    </a:p>
                  </a:txBody>
                  <a:tcPr/>
                </a:tc>
                <a:extLst>
                  <a:ext uri="{0D108BD9-81ED-4DB2-BD59-A6C34878D82A}">
                    <a16:rowId xmlns:a16="http://schemas.microsoft.com/office/drawing/2014/main" val="1652587969"/>
                  </a:ext>
                </a:extLst>
              </a:tr>
              <a:tr h="370840">
                <a:tc>
                  <a:txBody>
                    <a:bodyPr/>
                    <a:lstStyle/>
                    <a:p>
                      <a:r>
                        <a:rPr lang="en-US" dirty="0"/>
                        <a:t>Blob </a:t>
                      </a:r>
                      <a:endParaRPr lang="en-CA" dirty="0"/>
                    </a:p>
                  </a:txBody>
                  <a:tcPr/>
                </a:tc>
                <a:tc>
                  <a:txBody>
                    <a:bodyPr/>
                    <a:lstStyle/>
                    <a:p>
                      <a:r>
                        <a:rPr lang="en-US" dirty="0"/>
                        <a:t>Slow</a:t>
                      </a:r>
                      <a:endParaRPr lang="en-CA" dirty="0"/>
                    </a:p>
                  </a:txBody>
                  <a:tcPr/>
                </a:tc>
                <a:tc>
                  <a:txBody>
                    <a:bodyPr/>
                    <a:lstStyle/>
                    <a:p>
                      <a:r>
                        <a:rPr lang="en-US" dirty="0"/>
                        <a:t>Higher</a:t>
                      </a:r>
                      <a:endParaRPr lang="en-CA" dirty="0"/>
                    </a:p>
                  </a:txBody>
                  <a:tcPr/>
                </a:tc>
                <a:tc>
                  <a:txBody>
                    <a:bodyPr/>
                    <a:lstStyle/>
                    <a:p>
                      <a:r>
                        <a:rPr lang="en-US" dirty="0"/>
                        <a:t>High</a:t>
                      </a:r>
                      <a:endParaRPr lang="en-CA" dirty="0"/>
                    </a:p>
                  </a:txBody>
                  <a:tcPr/>
                </a:tc>
                <a:extLst>
                  <a:ext uri="{0D108BD9-81ED-4DB2-BD59-A6C34878D82A}">
                    <a16:rowId xmlns:a16="http://schemas.microsoft.com/office/drawing/2014/main" val="3754334122"/>
                  </a:ext>
                </a:extLst>
              </a:tr>
              <a:tr h="370840">
                <a:tc>
                  <a:txBody>
                    <a:bodyPr/>
                    <a:lstStyle/>
                    <a:p>
                      <a:r>
                        <a:rPr lang="en-US" dirty="0"/>
                        <a:t>Screenshot</a:t>
                      </a:r>
                      <a:endParaRPr lang="en-CA" dirty="0"/>
                    </a:p>
                  </a:txBody>
                  <a:tcPr/>
                </a:tc>
                <a:tc>
                  <a:txBody>
                    <a:bodyPr/>
                    <a:lstStyle/>
                    <a:p>
                      <a:r>
                        <a:rPr lang="en-US" dirty="0"/>
                        <a:t>Slowest</a:t>
                      </a:r>
                      <a:endParaRPr lang="en-CA" dirty="0"/>
                    </a:p>
                  </a:txBody>
                  <a:tcPr/>
                </a:tc>
                <a:tc>
                  <a:txBody>
                    <a:bodyPr/>
                    <a:lstStyle/>
                    <a:p>
                      <a:r>
                        <a:rPr lang="en-US" dirty="0"/>
                        <a:t>Highest</a:t>
                      </a:r>
                      <a:endParaRPr lang="en-CA" dirty="0"/>
                    </a:p>
                  </a:txBody>
                  <a:tcPr/>
                </a:tc>
                <a:tc>
                  <a:txBody>
                    <a:bodyPr/>
                    <a:lstStyle/>
                    <a:p>
                      <a:r>
                        <a:rPr lang="en-US" dirty="0"/>
                        <a:t>High</a:t>
                      </a:r>
                      <a:endParaRPr lang="en-CA" dirty="0"/>
                    </a:p>
                  </a:txBody>
                  <a:tcPr/>
                </a:tc>
                <a:extLst>
                  <a:ext uri="{0D108BD9-81ED-4DB2-BD59-A6C34878D82A}">
                    <a16:rowId xmlns:a16="http://schemas.microsoft.com/office/drawing/2014/main" val="2150918506"/>
                  </a:ext>
                </a:extLst>
              </a:tr>
            </a:tbl>
          </a:graphicData>
        </a:graphic>
      </p:graphicFrame>
    </p:spTree>
    <p:extLst>
      <p:ext uri="{BB962C8B-B14F-4D97-AF65-F5344CB8AC3E}">
        <p14:creationId xmlns:p14="http://schemas.microsoft.com/office/powerpoint/2010/main" val="3309373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0572-9C2F-7D33-BF2D-3A6A01807BFB}"/>
              </a:ext>
            </a:extLst>
          </p:cNvPr>
          <p:cNvSpPr>
            <a:spLocks noGrp="1"/>
          </p:cNvSpPr>
          <p:nvPr>
            <p:ph type="title"/>
          </p:nvPr>
        </p:nvSpPr>
        <p:spPr/>
        <p:txBody>
          <a:bodyPr/>
          <a:lstStyle/>
          <a:p>
            <a:r>
              <a:rPr lang="en-US" dirty="0"/>
              <a:t>Benchmarking Methodology </a:t>
            </a:r>
            <a:endParaRPr lang="en-CA" dirty="0"/>
          </a:p>
        </p:txBody>
      </p:sp>
      <p:sp>
        <p:nvSpPr>
          <p:cNvPr id="3" name="Content Placeholder 2">
            <a:extLst>
              <a:ext uri="{FF2B5EF4-FFF2-40B4-BE49-F238E27FC236}">
                <a16:creationId xmlns:a16="http://schemas.microsoft.com/office/drawing/2014/main" id="{88F5EB1C-920A-8DA3-1121-7C6C419BFBE0}"/>
              </a:ext>
            </a:extLst>
          </p:cNvPr>
          <p:cNvSpPr>
            <a:spLocks noGrp="1"/>
          </p:cNvSpPr>
          <p:nvPr>
            <p:ph idx="1"/>
          </p:nvPr>
        </p:nvSpPr>
        <p:spPr/>
        <p:txBody>
          <a:bodyPr/>
          <a:lstStyle/>
          <a:p>
            <a:r>
              <a:rPr lang="en-US" dirty="0"/>
              <a:t>We ran 2 types of benchmarks, one with unrestricted speed on a simulated </a:t>
            </a:r>
            <a:r>
              <a:rPr lang="en-US" dirty="0" err="1"/>
              <a:t>mapd</a:t>
            </a:r>
            <a:r>
              <a:rPr lang="en-US" dirty="0"/>
              <a:t> server and one with a restricted client speed and performance (Slow device preset &amp; Slow 4G Connection) via Chrome Development tools and K6 testing software</a:t>
            </a:r>
          </a:p>
          <a:p>
            <a:r>
              <a:rPr lang="en-US" dirty="0"/>
              <a:t>All tests were ran 100 times and the average and p95 was taken of those 100 requests, the testing suite is private but is available upon request. The suite was a collection of 75 images.</a:t>
            </a:r>
            <a:endParaRPr lang="en-CA" dirty="0"/>
          </a:p>
        </p:txBody>
      </p:sp>
    </p:spTree>
    <p:extLst>
      <p:ext uri="{BB962C8B-B14F-4D97-AF65-F5344CB8AC3E}">
        <p14:creationId xmlns:p14="http://schemas.microsoft.com/office/powerpoint/2010/main" val="237013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60A90-7A27-38A4-BA00-ED7FCE055341}"/>
              </a:ext>
            </a:extLst>
          </p:cNvPr>
          <p:cNvSpPr>
            <a:spLocks noGrp="1"/>
          </p:cNvSpPr>
          <p:nvPr>
            <p:ph type="title"/>
          </p:nvPr>
        </p:nvSpPr>
        <p:spPr>
          <a:xfrm>
            <a:off x="639763" y="110172"/>
            <a:ext cx="10890929" cy="1097280"/>
          </a:xfrm>
        </p:spPr>
        <p:txBody>
          <a:bodyPr/>
          <a:lstStyle/>
          <a:p>
            <a:r>
              <a:rPr lang="en-US" dirty="0"/>
              <a:t>Benchmark (Restricted speed)</a:t>
            </a:r>
            <a:endParaRPr lang="en-CA" dirty="0"/>
          </a:p>
        </p:txBody>
      </p:sp>
      <p:graphicFrame>
        <p:nvGraphicFramePr>
          <p:cNvPr id="6" name="Content Placeholder 5">
            <a:extLst>
              <a:ext uri="{FF2B5EF4-FFF2-40B4-BE49-F238E27FC236}">
                <a16:creationId xmlns:a16="http://schemas.microsoft.com/office/drawing/2014/main" id="{010EB393-79A5-153E-12CB-F3223F2C1386}"/>
              </a:ext>
            </a:extLst>
          </p:cNvPr>
          <p:cNvGraphicFramePr>
            <a:graphicFrameLocks noGrp="1"/>
          </p:cNvGraphicFramePr>
          <p:nvPr>
            <p:ph idx="1"/>
            <p:extLst>
              <p:ext uri="{D42A27DB-BD31-4B8C-83A1-F6EECF244321}">
                <p14:modId xmlns:p14="http://schemas.microsoft.com/office/powerpoint/2010/main" val="1080353731"/>
              </p:ext>
            </p:extLst>
          </p:nvPr>
        </p:nvGraphicFramePr>
        <p:xfrm>
          <a:off x="639763" y="2633663"/>
          <a:ext cx="10891837" cy="356552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F41B5C41-314F-4B7F-E8B9-E86007CAF313}"/>
              </a:ext>
            </a:extLst>
          </p:cNvPr>
          <p:cNvSpPr txBox="1"/>
          <p:nvPr/>
        </p:nvSpPr>
        <p:spPr>
          <a:xfrm>
            <a:off x="639763" y="1343025"/>
            <a:ext cx="10912474" cy="1200329"/>
          </a:xfrm>
          <a:prstGeom prst="rect">
            <a:avLst/>
          </a:prstGeom>
          <a:noFill/>
        </p:spPr>
        <p:txBody>
          <a:bodyPr wrap="square" rtlCol="0">
            <a:spAutoFit/>
          </a:bodyPr>
          <a:lstStyle/>
          <a:p>
            <a:r>
              <a:rPr lang="en-US" dirty="0"/>
              <a:t>In our restricted or “Real World” test we can see that our versions are significantly faster then the baseline with our best speedup being a 24x speedup (Warm URL Test) and our worst being a 2.4x speed up (Cold Blob Test). The majority of the speedup comes from our faster processing and in memory approach to handling our data.</a:t>
            </a:r>
            <a:endParaRPr lang="en-CA" dirty="0"/>
          </a:p>
        </p:txBody>
      </p:sp>
    </p:spTree>
    <p:extLst>
      <p:ext uri="{BB962C8B-B14F-4D97-AF65-F5344CB8AC3E}">
        <p14:creationId xmlns:p14="http://schemas.microsoft.com/office/powerpoint/2010/main" val="65520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854C-91CA-FD5C-81A7-11F0D041E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7D44C-AAF0-6684-7B12-C5F6F5BF3AF4}"/>
              </a:ext>
            </a:extLst>
          </p:cNvPr>
          <p:cNvSpPr>
            <a:spLocks noGrp="1"/>
          </p:cNvSpPr>
          <p:nvPr>
            <p:ph type="title"/>
          </p:nvPr>
        </p:nvSpPr>
        <p:spPr>
          <a:xfrm>
            <a:off x="639763" y="110172"/>
            <a:ext cx="10890929" cy="1097280"/>
          </a:xfrm>
        </p:spPr>
        <p:txBody>
          <a:bodyPr/>
          <a:lstStyle/>
          <a:p>
            <a:r>
              <a:rPr lang="en-US" dirty="0"/>
              <a:t>Benchmark (Unrestricted speed)</a:t>
            </a:r>
            <a:endParaRPr lang="en-CA" dirty="0"/>
          </a:p>
        </p:txBody>
      </p:sp>
      <p:graphicFrame>
        <p:nvGraphicFramePr>
          <p:cNvPr id="6" name="Content Placeholder 5">
            <a:extLst>
              <a:ext uri="{FF2B5EF4-FFF2-40B4-BE49-F238E27FC236}">
                <a16:creationId xmlns:a16="http://schemas.microsoft.com/office/drawing/2014/main" id="{22DC52D0-C2B6-B597-9889-D47254CF5D25}"/>
              </a:ext>
            </a:extLst>
          </p:cNvPr>
          <p:cNvGraphicFramePr>
            <a:graphicFrameLocks noGrp="1"/>
          </p:cNvGraphicFramePr>
          <p:nvPr>
            <p:ph idx="1"/>
            <p:extLst>
              <p:ext uri="{D42A27DB-BD31-4B8C-83A1-F6EECF244321}">
                <p14:modId xmlns:p14="http://schemas.microsoft.com/office/powerpoint/2010/main" val="3979696060"/>
              </p:ext>
            </p:extLst>
          </p:nvPr>
        </p:nvGraphicFramePr>
        <p:xfrm>
          <a:off x="639763" y="2633663"/>
          <a:ext cx="10891837" cy="356552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BD5BE67-AAED-F01A-E34C-89682351E22C}"/>
              </a:ext>
            </a:extLst>
          </p:cNvPr>
          <p:cNvSpPr txBox="1"/>
          <p:nvPr/>
        </p:nvSpPr>
        <p:spPr>
          <a:xfrm>
            <a:off x="639763" y="1343025"/>
            <a:ext cx="10912474" cy="1200329"/>
          </a:xfrm>
          <a:prstGeom prst="rect">
            <a:avLst/>
          </a:prstGeom>
          <a:noFill/>
        </p:spPr>
        <p:txBody>
          <a:bodyPr wrap="square" rtlCol="0">
            <a:spAutoFit/>
          </a:bodyPr>
          <a:lstStyle/>
          <a:p>
            <a:r>
              <a:rPr lang="en-US" dirty="0"/>
              <a:t>In our unrestricted test we see incredible performance gains in our Warm Tests and still a faster response in our cold URL Tests. Our highest here performance uplift here is a 1,091x Speedup over the baseline, the Number goes from 4583ms or ~4.6s down to a tiny 4.2ms. Our in memory database gives us incredible speeds on our warm tests and our in memory approach continues to give us uplift.</a:t>
            </a:r>
            <a:endParaRPr lang="en-CA" dirty="0"/>
          </a:p>
        </p:txBody>
      </p:sp>
    </p:spTree>
    <p:extLst>
      <p:ext uri="{BB962C8B-B14F-4D97-AF65-F5344CB8AC3E}">
        <p14:creationId xmlns:p14="http://schemas.microsoft.com/office/powerpoint/2010/main" val="4252038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78D6-4FF8-92DE-BB7F-320423520247}"/>
              </a:ext>
            </a:extLst>
          </p:cNvPr>
          <p:cNvSpPr>
            <a:spLocks noGrp="1"/>
          </p:cNvSpPr>
          <p:nvPr>
            <p:ph type="title"/>
          </p:nvPr>
        </p:nvSpPr>
        <p:spPr>
          <a:xfrm>
            <a:off x="640079" y="109728"/>
            <a:ext cx="10890929" cy="1097280"/>
          </a:xfrm>
        </p:spPr>
        <p:txBody>
          <a:bodyPr/>
          <a:lstStyle/>
          <a:p>
            <a:r>
              <a:rPr lang="en-US" dirty="0"/>
              <a:t>Other Tests:</a:t>
            </a:r>
            <a:endParaRPr lang="en-CA" dirty="0"/>
          </a:p>
        </p:txBody>
      </p:sp>
      <p:sp>
        <p:nvSpPr>
          <p:cNvPr id="3" name="Content Placeholder 2">
            <a:extLst>
              <a:ext uri="{FF2B5EF4-FFF2-40B4-BE49-F238E27FC236}">
                <a16:creationId xmlns:a16="http://schemas.microsoft.com/office/drawing/2014/main" id="{F434CE2E-A5CF-5207-C669-0E66FA9CED57}"/>
              </a:ext>
            </a:extLst>
          </p:cNvPr>
          <p:cNvSpPr>
            <a:spLocks noGrp="1"/>
          </p:cNvSpPr>
          <p:nvPr>
            <p:ph idx="1"/>
          </p:nvPr>
        </p:nvSpPr>
        <p:spPr/>
        <p:txBody>
          <a:bodyPr/>
          <a:lstStyle/>
          <a:p>
            <a:r>
              <a:rPr lang="en-US" dirty="0"/>
              <a:t>On Other Tests Like our CNN page test, Our implementation was able to handle 100% of the images (43/43) while the baseline test was able to handle 5% (8/43). This Test was made as a general benchmark for real world use. All images on the page were used including those in ads and video thumbnails.</a:t>
            </a:r>
          </a:p>
          <a:p>
            <a:r>
              <a:rPr lang="en-US" dirty="0"/>
              <a:t>On Sites like Instagram we were unable to get the baseline model to pick up on any model, while ours was able to transcribe </a:t>
            </a:r>
            <a:r>
              <a:rPr lang="en-US"/>
              <a:t>all images (100%) we found in a 5 minute period.</a:t>
            </a:r>
            <a:endParaRPr lang="en-CA" dirty="0"/>
          </a:p>
        </p:txBody>
      </p:sp>
    </p:spTree>
    <p:extLst>
      <p:ext uri="{BB962C8B-B14F-4D97-AF65-F5344CB8AC3E}">
        <p14:creationId xmlns:p14="http://schemas.microsoft.com/office/powerpoint/2010/main" val="2442376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6218-9B97-AA79-6E85-C07287B9A427}"/>
              </a:ext>
            </a:extLst>
          </p:cNvPr>
          <p:cNvSpPr>
            <a:spLocks noGrp="1"/>
          </p:cNvSpPr>
          <p:nvPr>
            <p:ph type="title"/>
          </p:nvPr>
        </p:nvSpPr>
        <p:spPr/>
        <p:txBody>
          <a:bodyPr/>
          <a:lstStyle/>
          <a:p>
            <a:r>
              <a:rPr lang="en-US" dirty="0"/>
              <a:t>Why Does Lower Latency Matter?</a:t>
            </a:r>
            <a:endParaRPr lang="en-CA" dirty="0"/>
          </a:p>
        </p:txBody>
      </p:sp>
      <p:sp>
        <p:nvSpPr>
          <p:cNvPr id="3" name="Content Placeholder 2">
            <a:extLst>
              <a:ext uri="{FF2B5EF4-FFF2-40B4-BE49-F238E27FC236}">
                <a16:creationId xmlns:a16="http://schemas.microsoft.com/office/drawing/2014/main" id="{497FF1B5-1448-1E6E-1BA9-75C36661D5A3}"/>
              </a:ext>
            </a:extLst>
          </p:cNvPr>
          <p:cNvSpPr>
            <a:spLocks noGrp="1"/>
          </p:cNvSpPr>
          <p:nvPr>
            <p:ph idx="1"/>
          </p:nvPr>
        </p:nvSpPr>
        <p:spPr/>
        <p:txBody>
          <a:bodyPr/>
          <a:lstStyle/>
          <a:p>
            <a:r>
              <a:rPr lang="en-US" dirty="0"/>
              <a:t>Real Users like the client we are building this for do not have access to perfect networks, even another few hundred milliseconds can feel like an eternity in assistive tech.</a:t>
            </a:r>
          </a:p>
          <a:p>
            <a:r>
              <a:rPr lang="en-US" dirty="0"/>
              <a:t>Changing a requests time from 8 seconds to a few milliseconds changes useability completely and allows the user more freedom to get the information when they want it.</a:t>
            </a:r>
            <a:endParaRPr lang="en-CA" dirty="0"/>
          </a:p>
        </p:txBody>
      </p:sp>
    </p:spTree>
    <p:extLst>
      <p:ext uri="{BB962C8B-B14F-4D97-AF65-F5344CB8AC3E}">
        <p14:creationId xmlns:p14="http://schemas.microsoft.com/office/powerpoint/2010/main" val="3273634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DD51-F54E-6C6D-D032-A2326EC0D8A5}"/>
              </a:ext>
            </a:extLst>
          </p:cNvPr>
          <p:cNvSpPr>
            <a:spLocks noGrp="1"/>
          </p:cNvSpPr>
          <p:nvPr>
            <p:ph type="title"/>
          </p:nvPr>
        </p:nvSpPr>
        <p:spPr>
          <a:xfrm>
            <a:off x="640078" y="238126"/>
            <a:ext cx="10890929" cy="666749"/>
          </a:xfrm>
        </p:spPr>
        <p:txBody>
          <a:bodyPr>
            <a:normAutofit fontScale="90000"/>
          </a:bodyPr>
          <a:lstStyle/>
          <a:p>
            <a:r>
              <a:rPr lang="en-US" dirty="0"/>
              <a:t>The OpenAI Limit</a:t>
            </a:r>
            <a:endParaRPr lang="en-CA" dirty="0"/>
          </a:p>
        </p:txBody>
      </p:sp>
      <p:sp>
        <p:nvSpPr>
          <p:cNvPr id="3" name="Content Placeholder 2">
            <a:extLst>
              <a:ext uri="{FF2B5EF4-FFF2-40B4-BE49-F238E27FC236}">
                <a16:creationId xmlns:a16="http://schemas.microsoft.com/office/drawing/2014/main" id="{26DD0B4F-73BD-B78D-EEE9-DBAA595F8576}"/>
              </a:ext>
            </a:extLst>
          </p:cNvPr>
          <p:cNvSpPr>
            <a:spLocks noGrp="1"/>
          </p:cNvSpPr>
          <p:nvPr>
            <p:ph idx="1"/>
          </p:nvPr>
        </p:nvSpPr>
        <p:spPr/>
        <p:txBody>
          <a:bodyPr/>
          <a:lstStyle/>
          <a:p>
            <a:r>
              <a:rPr lang="en-US" dirty="0"/>
              <a:t>During Our testing we found that OpenAI’s GPT-5.* models were unable to be faster then 2000ms on a cold request. If OpenAI can reduce their processing times or we migrate to Gemini we can squeeze out another few hundred milliseconds. We chose to stay with OpenAI as one of our members had a rather large number of API credits from a previous credit grant.</a:t>
            </a:r>
          </a:p>
          <a:p>
            <a:r>
              <a:rPr lang="en-US" dirty="0"/>
              <a:t>It is possible and quite easy for us to switch as the model as the OpenAI JavaScript package is able to target Gemini with a singular line change in the request.</a:t>
            </a:r>
            <a:endParaRPr lang="en-CA" dirty="0"/>
          </a:p>
        </p:txBody>
      </p:sp>
    </p:spTree>
    <p:extLst>
      <p:ext uri="{BB962C8B-B14F-4D97-AF65-F5344CB8AC3E}">
        <p14:creationId xmlns:p14="http://schemas.microsoft.com/office/powerpoint/2010/main" val="2500340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23003-AEFC-9FC3-D188-418D39227B45}"/>
              </a:ext>
            </a:extLst>
          </p:cNvPr>
          <p:cNvSpPr>
            <a:spLocks noGrp="1"/>
          </p:cNvSpPr>
          <p:nvPr>
            <p:ph type="title"/>
          </p:nvPr>
        </p:nvSpPr>
        <p:spPr/>
        <p:txBody>
          <a:bodyPr/>
          <a:lstStyle/>
          <a:p>
            <a:r>
              <a:rPr lang="en-US" dirty="0"/>
              <a:t>Future Improvements</a:t>
            </a:r>
            <a:endParaRPr lang="en-CA" dirty="0"/>
          </a:p>
        </p:txBody>
      </p:sp>
      <p:sp>
        <p:nvSpPr>
          <p:cNvPr id="3" name="Content Placeholder 2">
            <a:extLst>
              <a:ext uri="{FF2B5EF4-FFF2-40B4-BE49-F238E27FC236}">
                <a16:creationId xmlns:a16="http://schemas.microsoft.com/office/drawing/2014/main" id="{7ECCCEE6-DBF6-0B40-166E-52688BE3FB21}"/>
              </a:ext>
            </a:extLst>
          </p:cNvPr>
          <p:cNvSpPr>
            <a:spLocks noGrp="1"/>
          </p:cNvSpPr>
          <p:nvPr>
            <p:ph idx="1"/>
          </p:nvPr>
        </p:nvSpPr>
        <p:spPr/>
        <p:txBody>
          <a:bodyPr/>
          <a:lstStyle/>
          <a:p>
            <a:r>
              <a:rPr lang="en-US" dirty="0"/>
              <a:t>We could prefetch the blob and store it in the clients memory to save a few milliseconds.</a:t>
            </a:r>
          </a:p>
          <a:p>
            <a:r>
              <a:rPr lang="en-US" dirty="0"/>
              <a:t>Batch Processing</a:t>
            </a:r>
          </a:p>
          <a:p>
            <a:r>
              <a:rPr lang="en-US" dirty="0"/>
              <a:t>Distributed Caching via Sharding Database</a:t>
            </a:r>
          </a:p>
          <a:p>
            <a:r>
              <a:rPr lang="en-US" dirty="0"/>
              <a:t>Better Parallel request </a:t>
            </a:r>
            <a:r>
              <a:rPr lang="en-US" dirty="0" err="1"/>
              <a:t>handleing</a:t>
            </a:r>
            <a:endParaRPr lang="en-CA" dirty="0"/>
          </a:p>
        </p:txBody>
      </p:sp>
    </p:spTree>
    <p:extLst>
      <p:ext uri="{BB962C8B-B14F-4D97-AF65-F5344CB8AC3E}">
        <p14:creationId xmlns:p14="http://schemas.microsoft.com/office/powerpoint/2010/main" val="1752920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D479-53EE-A252-413E-EB2956EC7A5B}"/>
              </a:ext>
            </a:extLst>
          </p:cNvPr>
          <p:cNvSpPr>
            <a:spLocks noGrp="1"/>
          </p:cNvSpPr>
          <p:nvPr>
            <p:ph type="title"/>
          </p:nvPr>
        </p:nvSpPr>
        <p:spPr/>
        <p:txBody>
          <a:bodyPr>
            <a:noAutofit/>
          </a:bodyPr>
          <a:lstStyle/>
          <a:p>
            <a:pPr algn="ctr"/>
            <a:r>
              <a:rPr lang="en-US" sz="9600" dirty="0"/>
              <a:t>Demo!</a:t>
            </a:r>
            <a:endParaRPr lang="en-CA" sz="9600" dirty="0"/>
          </a:p>
        </p:txBody>
      </p:sp>
    </p:spTree>
    <p:extLst>
      <p:ext uri="{BB962C8B-B14F-4D97-AF65-F5344CB8AC3E}">
        <p14:creationId xmlns:p14="http://schemas.microsoft.com/office/powerpoint/2010/main" val="3024972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90A49-5731-2D1B-17FA-202586500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7A16F-87E6-7CC8-DEDE-26F3AFFD07BF}"/>
              </a:ext>
            </a:extLst>
          </p:cNvPr>
          <p:cNvSpPr>
            <a:spLocks noGrp="1"/>
          </p:cNvSpPr>
          <p:nvPr>
            <p:ph type="title"/>
          </p:nvPr>
        </p:nvSpPr>
        <p:spPr/>
        <p:txBody>
          <a:bodyPr>
            <a:noAutofit/>
          </a:bodyPr>
          <a:lstStyle/>
          <a:p>
            <a:pPr algn="ctr"/>
            <a:r>
              <a:rPr lang="en-US" sz="9600" dirty="0"/>
              <a:t>Questions?</a:t>
            </a:r>
            <a:endParaRPr lang="en-CA" sz="9600" dirty="0"/>
          </a:p>
        </p:txBody>
      </p:sp>
    </p:spTree>
    <p:extLst>
      <p:ext uri="{BB962C8B-B14F-4D97-AF65-F5344CB8AC3E}">
        <p14:creationId xmlns:p14="http://schemas.microsoft.com/office/powerpoint/2010/main" val="4018509034"/>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97B76A072E0640B542B810C811908F" ma:contentTypeVersion="5" ma:contentTypeDescription="Create a new document." ma:contentTypeScope="" ma:versionID="3cba58461a749371e4292e7052f05b6d">
  <xsd:schema xmlns:xsd="http://www.w3.org/2001/XMLSchema" xmlns:xs="http://www.w3.org/2001/XMLSchema" xmlns:p="http://schemas.microsoft.com/office/2006/metadata/properties" xmlns:ns3="5f3ded51-551a-488b-8781-107525ca1254" targetNamespace="http://schemas.microsoft.com/office/2006/metadata/properties" ma:root="true" ma:fieldsID="309495292c8e74d766e2aa12390c4be7" ns3:_="">
    <xsd:import namespace="5f3ded51-551a-488b-8781-107525ca125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3ded51-551a-488b-8781-107525ca125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f3ded51-551a-488b-8781-107525ca1254" xsi:nil="true"/>
  </documentManagement>
</p:properties>
</file>

<file path=customXml/itemProps1.xml><?xml version="1.0" encoding="utf-8"?>
<ds:datastoreItem xmlns:ds="http://schemas.openxmlformats.org/officeDocument/2006/customXml" ds:itemID="{D3113023-489B-4230-B44C-AE204FAC33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3ded51-551a-488b-8781-107525ca1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1151EC-B5F8-4BB2-8CCC-ABC9215AC316}">
  <ds:schemaRefs>
    <ds:schemaRef ds:uri="http://schemas.microsoft.com/sharepoint/v3/contenttype/forms"/>
  </ds:schemaRefs>
</ds:datastoreItem>
</file>

<file path=customXml/itemProps3.xml><?xml version="1.0" encoding="utf-8"?>
<ds:datastoreItem xmlns:ds="http://schemas.openxmlformats.org/officeDocument/2006/customXml" ds:itemID="{06A82787-3AE7-4E33-97B5-A855626E4F96}">
  <ds:schemaRefs>
    <ds:schemaRef ds:uri="http://purl.org/dc/dcmitype/"/>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5f3ded51-551a-488b-8781-107525ca1254"/>
    <ds:schemaRef ds:uri="http://www.w3.org/XML/1998/namespac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175</TotalTime>
  <Words>1282</Words>
  <Application>Microsoft Office PowerPoint</Application>
  <PresentationFormat>Widescreen</PresentationFormat>
  <Paragraphs>97</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Grandview Display</vt:lpstr>
      <vt:lpstr>DashVTI</vt:lpstr>
      <vt:lpstr>Team Satelites</vt:lpstr>
      <vt:lpstr>The Problem.</vt:lpstr>
      <vt:lpstr>Goals / What We Optimized For</vt:lpstr>
      <vt:lpstr>How was work distributed</vt:lpstr>
      <vt:lpstr>Baseline System (Professor’s Version)</vt:lpstr>
      <vt:lpstr>Our Architecture </vt:lpstr>
      <vt:lpstr>Key Optimization #1 — URL-First Strategy</vt:lpstr>
      <vt:lpstr>Key Optimization #2 — Intelligent Caching</vt:lpstr>
      <vt:lpstr>Key Optimization #3 — Robust Image Handling Via Screenshot Fallback</vt:lpstr>
      <vt:lpstr>Input Strategy Comparison.</vt:lpstr>
      <vt:lpstr>Benchmarking Methodology </vt:lpstr>
      <vt:lpstr>Benchmark (Restricted speed)</vt:lpstr>
      <vt:lpstr>Benchmark (Unrestricted speed)</vt:lpstr>
      <vt:lpstr>Other Tests:</vt:lpstr>
      <vt:lpstr>Why Does Lower Latency Matter?</vt:lpstr>
      <vt:lpstr>The OpenAI Limit</vt:lpstr>
      <vt:lpstr>Future Improvements</vt:lpstr>
      <vt:lpstr>Demo!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Gavin Geizer</dc:creator>
  <cp:lastModifiedBy>Gavin Geizer</cp:lastModifiedBy>
  <cp:revision>2</cp:revision>
  <dcterms:created xsi:type="dcterms:W3CDTF">2026-04-07T12:14:21Z</dcterms:created>
  <dcterms:modified xsi:type="dcterms:W3CDTF">2026-04-07T15:09:58Z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0x0101006197B76A072E0640B542B810C811908F</vt:lpwstr>
  </property>
</Properties>
</file>